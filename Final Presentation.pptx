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70" r:id="rId7"/>
    <p:sldId id="260" r:id="rId8"/>
    <p:sldId id="264" r:id="rId9"/>
    <p:sldId id="271" r:id="rId10"/>
    <p:sldId id="265" r:id="rId11"/>
    <p:sldId id="266" r:id="rId12"/>
    <p:sldId id="272" r:id="rId13"/>
    <p:sldId id="267" r:id="rId14"/>
    <p:sldId id="268" r:id="rId15"/>
    <p:sldId id="262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v0646\Documents\FofAI\final%20data\Letrozole%20(unedited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v0646\Documents\FofAI\trial\L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v0646\Documents\FofAI\final%20data\Tamoxifen%20(unedited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v0646\Documents\FofAI\trial\T%20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[Letrozole (unedited).xlsx]Sheet2!PivotTable4</c:name>
    <c:fmtId val="4"/>
  </c:pivotSource>
  <c:chart>
    <c:autoTitleDeleted val="0"/>
    <c:pivotFmts>
      <c:pivotFmt>
        <c:idx val="0"/>
        <c:spPr>
          <a:solidFill>
            <a:srgbClr val="FF00F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FF00F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FF00F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Sheet2!$B$3:$B$4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FF00FF"/>
            </a:solidFill>
            <a:ln>
              <a:noFill/>
            </a:ln>
            <a:effectLst/>
          </c:spPr>
          <c:invertIfNegative val="0"/>
          <c:cat>
            <c:strRef>
              <c:f>Sheet2!$A$5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Sheet2!$B$5</c:f>
              <c:numCache>
                <c:formatCode>General</c:formatCode>
                <c:ptCount val="1"/>
                <c:pt idx="0">
                  <c:v>29146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94-4288-845B-F9CE42B26AF5}"/>
            </c:ext>
          </c:extLst>
        </c:ser>
        <c:ser>
          <c:idx val="1"/>
          <c:order val="1"/>
          <c:tx>
            <c:strRef>
              <c:f>Sheet2!$C$3:$C$4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Sheet2!$A$5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Sheet2!$C$5</c:f>
              <c:numCache>
                <c:formatCode>General</c:formatCode>
                <c:ptCount val="1"/>
                <c:pt idx="0">
                  <c:v>374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94-4288-845B-F9CE42B26AF5}"/>
            </c:ext>
          </c:extLst>
        </c:ser>
        <c:ser>
          <c:idx val="2"/>
          <c:order val="2"/>
          <c:tx>
            <c:strRef>
              <c:f>Sheet2!$D$3:$D$4</c:f>
              <c:strCache>
                <c:ptCount val="1"/>
                <c:pt idx="0">
                  <c:v>Not Specified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Sheet2!$A$5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Sheet2!$D$5</c:f>
              <c:numCache>
                <c:formatCode>General</c:formatCode>
                <c:ptCount val="1"/>
                <c:pt idx="0">
                  <c:v>2594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94-4288-845B-F9CE42B26A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9334623"/>
        <c:axId val="2019332223"/>
      </c:barChart>
      <c:catAx>
        <c:axId val="2019334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9332223"/>
        <c:crosses val="autoZero"/>
        <c:auto val="1"/>
        <c:lblAlgn val="ctr"/>
        <c:lblOffset val="100"/>
        <c:noMultiLvlLbl val="0"/>
      </c:catAx>
      <c:valAx>
        <c:axId val="2019332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9334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 data.xlsx]Master!PivotTable3</c:name>
    <c:fmtId val="9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2.52118433190993E-2"/>
          <c:y val="1.5141955835962145E-2"/>
          <c:w val="0.75392705260594151"/>
          <c:h val="0.913897116172781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Master!$H$4:$H$6</c:f>
              <c:strCache>
                <c:ptCount val="1"/>
                <c:pt idx="0">
                  <c:v>Sum of Female - Cardiovascular System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Master!$G$7:$G$15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Master!$H$7:$H$15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0.16091954022988506</c:v>
                </c:pt>
                <c:pt idx="4">
                  <c:v>0.31094049904030713</c:v>
                </c:pt>
                <c:pt idx="5">
                  <c:v>0.4834318006678654</c:v>
                </c:pt>
                <c:pt idx="6">
                  <c:v>0</c:v>
                </c:pt>
                <c:pt idx="7">
                  <c:v>0.43188854489164086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2A-4CBA-ADC6-DC7D01FCA874}"/>
            </c:ext>
          </c:extLst>
        </c:ser>
        <c:ser>
          <c:idx val="1"/>
          <c:order val="1"/>
          <c:tx>
            <c:strRef>
              <c:f>Master!$I$4:$I$6</c:f>
              <c:strCache>
                <c:ptCount val="1"/>
                <c:pt idx="0">
                  <c:v>Sum of Female - Digestive System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Master!$G$7:$G$15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Master!$I$7:$I$15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0.43225806451612903</c:v>
                </c:pt>
                <c:pt idx="3">
                  <c:v>0.51395730706075538</c:v>
                </c:pt>
                <c:pt idx="4">
                  <c:v>0.44465770953294947</c:v>
                </c:pt>
                <c:pt idx="5">
                  <c:v>0.50398150526586183</c:v>
                </c:pt>
                <c:pt idx="6">
                  <c:v>0</c:v>
                </c:pt>
                <c:pt idx="7">
                  <c:v>0.37616099071207432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2A-4CBA-ADC6-DC7D01FCA874}"/>
            </c:ext>
          </c:extLst>
        </c:ser>
        <c:ser>
          <c:idx val="2"/>
          <c:order val="2"/>
          <c:tx>
            <c:strRef>
              <c:f>Master!$J$4:$J$6</c:f>
              <c:strCache>
                <c:ptCount val="1"/>
                <c:pt idx="0">
                  <c:v>Sum of Female - Endocrine System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Master!$G$7:$G$15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Master!$J$7:$J$15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4.1935483870967745E-2</c:v>
                </c:pt>
                <c:pt idx="3">
                  <c:v>0.15270935960591134</c:v>
                </c:pt>
                <c:pt idx="4">
                  <c:v>0.14395393474088292</c:v>
                </c:pt>
                <c:pt idx="5">
                  <c:v>0.18725918314924223</c:v>
                </c:pt>
                <c:pt idx="6">
                  <c:v>0</c:v>
                </c:pt>
                <c:pt idx="7">
                  <c:v>3.0959752321981424E-2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D2A-4CBA-ADC6-DC7D01FCA874}"/>
            </c:ext>
          </c:extLst>
        </c:ser>
        <c:ser>
          <c:idx val="3"/>
          <c:order val="3"/>
          <c:tx>
            <c:strRef>
              <c:f>Master!$K$4:$K$6</c:f>
              <c:strCache>
                <c:ptCount val="1"/>
                <c:pt idx="0">
                  <c:v>Sum of Female - Liver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Master!$G$7:$G$15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Master!$K$7:$K$15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0.37096774193548387</c:v>
                </c:pt>
                <c:pt idx="3">
                  <c:v>0.24958949096880131</c:v>
                </c:pt>
                <c:pt idx="4">
                  <c:v>0.21049264235444659</c:v>
                </c:pt>
                <c:pt idx="5">
                  <c:v>8.2198818391985614E-3</c:v>
                </c:pt>
                <c:pt idx="6">
                  <c:v>0</c:v>
                </c:pt>
                <c:pt idx="7">
                  <c:v>0.1021671826625387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8D2A-4CBA-ADC6-DC7D01FCA874}"/>
            </c:ext>
          </c:extLst>
        </c:ser>
        <c:ser>
          <c:idx val="4"/>
          <c:order val="4"/>
          <c:tx>
            <c:strRef>
              <c:f>Master!$L$4:$L$6</c:f>
              <c:strCache>
                <c:ptCount val="1"/>
                <c:pt idx="0">
                  <c:v>Sum of Female - Nervous System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Master!$G$7:$G$15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Master!$L$7:$L$15</c:f>
              <c:numCache>
                <c:formatCode>General</c:formatCode>
                <c:ptCount val="8"/>
                <c:pt idx="0">
                  <c:v>0</c:v>
                </c:pt>
                <c:pt idx="1">
                  <c:v>0.2</c:v>
                </c:pt>
                <c:pt idx="2">
                  <c:v>0.6967741935483871</c:v>
                </c:pt>
                <c:pt idx="3">
                  <c:v>0.60591133004926112</c:v>
                </c:pt>
                <c:pt idx="4">
                  <c:v>0.73384516954574541</c:v>
                </c:pt>
                <c:pt idx="5">
                  <c:v>0.83868481890572821</c:v>
                </c:pt>
                <c:pt idx="6">
                  <c:v>0</c:v>
                </c:pt>
                <c:pt idx="7">
                  <c:v>0.69195046439628483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D2A-4CBA-ADC6-DC7D01FCA874}"/>
            </c:ext>
          </c:extLst>
        </c:ser>
        <c:ser>
          <c:idx val="5"/>
          <c:order val="5"/>
          <c:tx>
            <c:strRef>
              <c:f>Master!$M$4:$M$6</c:f>
              <c:strCache>
                <c:ptCount val="1"/>
                <c:pt idx="0">
                  <c:v>Sum of Female - Respiratory System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Master!$G$7:$G$15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Master!$M$7:$M$15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0.28387096774193549</c:v>
                </c:pt>
                <c:pt idx="3">
                  <c:v>0.33004926108374383</c:v>
                </c:pt>
                <c:pt idx="4">
                  <c:v>0.34740882917466409</c:v>
                </c:pt>
                <c:pt idx="5">
                  <c:v>0.45954276907269459</c:v>
                </c:pt>
                <c:pt idx="6">
                  <c:v>0</c:v>
                </c:pt>
                <c:pt idx="7">
                  <c:v>0.39009287925696595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8D2A-4CBA-ADC6-DC7D01FCA874}"/>
            </c:ext>
          </c:extLst>
        </c:ser>
        <c:ser>
          <c:idx val="6"/>
          <c:order val="6"/>
          <c:tx>
            <c:strRef>
              <c:f>Master!$N$4:$N$6</c:f>
              <c:strCache>
                <c:ptCount val="1"/>
                <c:pt idx="0">
                  <c:v>Sum of Female - Urinary System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Master!$G$7:$G$15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Master!$N$7:$N$15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0.13225806451612904</c:v>
                </c:pt>
                <c:pt idx="3">
                  <c:v>0.13464696223316913</c:v>
                </c:pt>
                <c:pt idx="4">
                  <c:v>0.1036468330134357</c:v>
                </c:pt>
                <c:pt idx="5">
                  <c:v>0.23067043411250962</c:v>
                </c:pt>
                <c:pt idx="6">
                  <c:v>0</c:v>
                </c:pt>
                <c:pt idx="7">
                  <c:v>0.17182662538699692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D2A-4CBA-ADC6-DC7D01FCA874}"/>
            </c:ext>
          </c:extLst>
        </c:ser>
        <c:ser>
          <c:idx val="7"/>
          <c:order val="7"/>
          <c:tx>
            <c:strRef>
              <c:f>Master!$O$4:$O$6</c:f>
              <c:strCache>
                <c:ptCount val="1"/>
                <c:pt idx="0">
                  <c:v>Sum of Male - Cardiovascular System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Master!$G$7:$G$15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Master!$O$7:$O$15</c:f>
              <c:numCache>
                <c:formatCode>General</c:formatCode>
                <c:ptCount val="8"/>
                <c:pt idx="0">
                  <c:v>0</c:v>
                </c:pt>
                <c:pt idx="1">
                  <c:v>0.47368421052631576</c:v>
                </c:pt>
                <c:pt idx="2">
                  <c:v>0</c:v>
                </c:pt>
                <c:pt idx="3">
                  <c:v>2.5</c:v>
                </c:pt>
                <c:pt idx="4">
                  <c:v>0.33333333333333331</c:v>
                </c:pt>
                <c:pt idx="5">
                  <c:v>0</c:v>
                </c:pt>
                <c:pt idx="6">
                  <c:v>0</c:v>
                </c:pt>
                <c:pt idx="7">
                  <c:v>0.7142857142857143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8D2A-4CBA-ADC6-DC7D01FCA874}"/>
            </c:ext>
          </c:extLst>
        </c:ser>
        <c:ser>
          <c:idx val="8"/>
          <c:order val="8"/>
          <c:tx>
            <c:strRef>
              <c:f>Master!$P$4:$P$6</c:f>
              <c:strCache>
                <c:ptCount val="1"/>
                <c:pt idx="0">
                  <c:v>Sum of Male - Digestive System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Master!$G$7:$G$15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Master!$P$7:$P$15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1.3333333333333333</c:v>
                </c:pt>
                <c:pt idx="5">
                  <c:v>4.1666666666666664E-2</c:v>
                </c:pt>
                <c:pt idx="6">
                  <c:v>0</c:v>
                </c:pt>
                <c:pt idx="7">
                  <c:v>0.42857142857142855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D2A-4CBA-ADC6-DC7D01FCA874}"/>
            </c:ext>
          </c:extLst>
        </c:ser>
        <c:ser>
          <c:idx val="9"/>
          <c:order val="9"/>
          <c:tx>
            <c:strRef>
              <c:f>Master!$Q$4:$Q$6</c:f>
              <c:strCache>
                <c:ptCount val="1"/>
                <c:pt idx="0">
                  <c:v>Sum of Male - Endocrine System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Master!$G$7:$G$15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Master!$Q$7:$Q$15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1.5</c:v>
                </c:pt>
                <c:pt idx="4">
                  <c:v>0.33333333333333331</c:v>
                </c:pt>
                <c:pt idx="5">
                  <c:v>4.1666666666666664E-2</c:v>
                </c:pt>
                <c:pt idx="6">
                  <c:v>1.6666666666666667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8D2A-4CBA-ADC6-DC7D01FCA874}"/>
            </c:ext>
          </c:extLst>
        </c:ser>
        <c:ser>
          <c:idx val="10"/>
          <c:order val="10"/>
          <c:tx>
            <c:strRef>
              <c:f>Master!$R$4:$R$6</c:f>
              <c:strCache>
                <c:ptCount val="1"/>
                <c:pt idx="0">
                  <c:v>Sum of Male - Liver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Master!$G$7:$G$15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Master!$R$7:$R$15</c:f>
              <c:numCache>
                <c:formatCode>General</c:formatCode>
                <c:ptCount val="8"/>
                <c:pt idx="0">
                  <c:v>0</c:v>
                </c:pt>
                <c:pt idx="2">
                  <c:v>0</c:v>
                </c:pt>
                <c:pt idx="3">
                  <c:v>0.5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0.2857142857142857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8D2A-4CBA-ADC6-DC7D01FCA874}"/>
            </c:ext>
          </c:extLst>
        </c:ser>
        <c:ser>
          <c:idx val="11"/>
          <c:order val="11"/>
          <c:tx>
            <c:strRef>
              <c:f>Master!$S$4:$S$6</c:f>
              <c:strCache>
                <c:ptCount val="1"/>
                <c:pt idx="0">
                  <c:v>Sum of Male - Nervous System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Master!$G$7:$G$15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Master!$S$7:$S$15</c:f>
              <c:numCache>
                <c:formatCode>General</c:formatCode>
                <c:ptCount val="8"/>
                <c:pt idx="0">
                  <c:v>0</c:v>
                </c:pt>
                <c:pt idx="1">
                  <c:v>0.63157894736842102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0.33333333333333331</c:v>
                </c:pt>
                <c:pt idx="6">
                  <c:v>0.33333333333333331</c:v>
                </c:pt>
                <c:pt idx="7">
                  <c:v>0.8571428571428571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8D2A-4CBA-ADC6-DC7D01FCA874}"/>
            </c:ext>
          </c:extLst>
        </c:ser>
        <c:ser>
          <c:idx val="12"/>
          <c:order val="12"/>
          <c:tx>
            <c:strRef>
              <c:f>Master!$T$4:$T$6</c:f>
              <c:strCache>
                <c:ptCount val="1"/>
                <c:pt idx="0">
                  <c:v>Sum of Male - Respiratory System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Master!$G$7:$G$15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Master!$T$7:$T$15</c:f>
              <c:numCache>
                <c:formatCode>General</c:formatCode>
                <c:ptCount val="8"/>
                <c:pt idx="0">
                  <c:v>0</c:v>
                </c:pt>
                <c:pt idx="1">
                  <c:v>5.2631578947368418E-2</c:v>
                </c:pt>
                <c:pt idx="2">
                  <c:v>0</c:v>
                </c:pt>
                <c:pt idx="3">
                  <c:v>0</c:v>
                </c:pt>
                <c:pt idx="4">
                  <c:v>0.33333333333333331</c:v>
                </c:pt>
                <c:pt idx="5">
                  <c:v>4.1666666666666664E-2</c:v>
                </c:pt>
                <c:pt idx="6">
                  <c:v>0.33333333333333331</c:v>
                </c:pt>
                <c:pt idx="7">
                  <c:v>1.4285714285714286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8D2A-4CBA-ADC6-DC7D01FCA874}"/>
            </c:ext>
          </c:extLst>
        </c:ser>
        <c:ser>
          <c:idx val="13"/>
          <c:order val="13"/>
          <c:tx>
            <c:strRef>
              <c:f>Master!$U$4:$U$6</c:f>
              <c:strCache>
                <c:ptCount val="1"/>
                <c:pt idx="0">
                  <c:v>Sum of Male - Urinary System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Master!$G$7:$G$15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Master!$U$7:$U$15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0.16666666666666666</c:v>
                </c:pt>
                <c:pt idx="6">
                  <c:v>0.33333333333333331</c:v>
                </c:pt>
                <c:pt idx="7">
                  <c:v>0.2857142857142857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8D2A-4CBA-ADC6-DC7D01FCA8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48326031"/>
        <c:axId val="2028572927"/>
      </c:barChart>
      <c:catAx>
        <c:axId val="348326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8572927"/>
        <c:crosses val="autoZero"/>
        <c:auto val="1"/>
        <c:lblAlgn val="ctr"/>
        <c:lblOffset val="100"/>
        <c:noMultiLvlLbl val="0"/>
      </c:catAx>
      <c:valAx>
        <c:axId val="20285729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83260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[Tamoxifen (unedited).xlsx]Sheet2!PivotTable5</c:name>
    <c:fmtId val="4"/>
  </c:pivotSource>
  <c:chart>
    <c:autoTitleDeleted val="0"/>
    <c:pivotFmts>
      <c:pivotFmt>
        <c:idx val="0"/>
        <c:spPr>
          <a:solidFill>
            <a:srgbClr val="FF00F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FF00F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FF00F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Sheet2!$B$3:$B$4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FF00FF"/>
            </a:solidFill>
            <a:ln>
              <a:noFill/>
            </a:ln>
            <a:effectLst/>
          </c:spPr>
          <c:invertIfNegative val="0"/>
          <c:cat>
            <c:strRef>
              <c:f>Sheet2!$A$5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Sheet2!$B$5</c:f>
              <c:numCache>
                <c:formatCode>General</c:formatCode>
                <c:ptCount val="1"/>
                <c:pt idx="0">
                  <c:v>6413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E6-4BBF-A84E-44E5D7C9E88E}"/>
            </c:ext>
          </c:extLst>
        </c:ser>
        <c:ser>
          <c:idx val="1"/>
          <c:order val="1"/>
          <c:tx>
            <c:strRef>
              <c:f>Sheet2!$C$3:$C$4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Sheet2!$A$5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Sheet2!$C$5</c:f>
              <c:numCache>
                <c:formatCode>General</c:formatCode>
                <c:ptCount val="1"/>
                <c:pt idx="0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E6-4BBF-A84E-44E5D7C9E88E}"/>
            </c:ext>
          </c:extLst>
        </c:ser>
        <c:ser>
          <c:idx val="2"/>
          <c:order val="2"/>
          <c:tx>
            <c:strRef>
              <c:f>Sheet2!$D$3:$D$4</c:f>
              <c:strCache>
                <c:ptCount val="1"/>
                <c:pt idx="0">
                  <c:v>Not Specified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Sheet2!$A$5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Sheet2!$D$5</c:f>
              <c:numCache>
                <c:formatCode>General</c:formatCode>
                <c:ptCount val="1"/>
                <c:pt idx="0">
                  <c:v>850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E6-4BBF-A84E-44E5D7C9E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9329823"/>
        <c:axId val="2019325503"/>
      </c:barChart>
      <c:catAx>
        <c:axId val="2019329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9325503"/>
        <c:crosses val="autoZero"/>
        <c:auto val="1"/>
        <c:lblAlgn val="ctr"/>
        <c:lblOffset val="100"/>
        <c:noMultiLvlLbl val="0"/>
      </c:catAx>
      <c:valAx>
        <c:axId val="2019325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9329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 data.xlsx]master!PivotTable2</c:name>
    <c:fmtId val="1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master!$I$5:$I$7</c:f>
              <c:strCache>
                <c:ptCount val="1"/>
                <c:pt idx="0">
                  <c:v>Cardiovascular System - Sum of Female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master!$H$8:$H$16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master!$I$8:$I$16</c:f>
              <c:numCache>
                <c:formatCode>General</c:formatCode>
                <c:ptCount val="8"/>
                <c:pt idx="0">
                  <c:v>0</c:v>
                </c:pt>
                <c:pt idx="1">
                  <c:v>0.2</c:v>
                </c:pt>
                <c:pt idx="2">
                  <c:v>0.32954545454545453</c:v>
                </c:pt>
                <c:pt idx="3">
                  <c:v>0.30721003134796238</c:v>
                </c:pt>
                <c:pt idx="4">
                  <c:v>0.27034883720930231</c:v>
                </c:pt>
                <c:pt idx="5">
                  <c:v>0.5112107623318386</c:v>
                </c:pt>
                <c:pt idx="6">
                  <c:v>0</c:v>
                </c:pt>
                <c:pt idx="7">
                  <c:v>0.25454545454545452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15-4D8F-8B52-BAB179396D0F}"/>
            </c:ext>
          </c:extLst>
        </c:ser>
        <c:ser>
          <c:idx val="1"/>
          <c:order val="1"/>
          <c:tx>
            <c:strRef>
              <c:f>master!$J$5:$J$7</c:f>
              <c:strCache>
                <c:ptCount val="1"/>
                <c:pt idx="0">
                  <c:v>Cardiovascular System - Sum of Male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master!$H$8:$H$16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master!$J$8:$J$16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0.77777777777777779</c:v>
                </c:pt>
                <c:pt idx="3">
                  <c:v>0</c:v>
                </c:pt>
                <c:pt idx="4">
                  <c:v>0</c:v>
                </c:pt>
                <c:pt idx="5">
                  <c:v>1.2307692307692308</c:v>
                </c:pt>
                <c:pt idx="6">
                  <c:v>0</c:v>
                </c:pt>
                <c:pt idx="7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15-4D8F-8B52-BAB179396D0F}"/>
            </c:ext>
          </c:extLst>
        </c:ser>
        <c:ser>
          <c:idx val="2"/>
          <c:order val="2"/>
          <c:tx>
            <c:strRef>
              <c:f>master!$K$5:$K$7</c:f>
              <c:strCache>
                <c:ptCount val="1"/>
                <c:pt idx="0">
                  <c:v>Digestive System - Sum of Female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master!$H$8:$H$16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master!$K$8:$K$16</c:f>
              <c:numCache>
                <c:formatCode>General</c:formatCode>
                <c:ptCount val="8"/>
                <c:pt idx="0">
                  <c:v>0</c:v>
                </c:pt>
                <c:pt idx="1">
                  <c:v>0.4</c:v>
                </c:pt>
                <c:pt idx="2">
                  <c:v>0.375</c:v>
                </c:pt>
                <c:pt idx="3">
                  <c:v>0.42946708463949845</c:v>
                </c:pt>
                <c:pt idx="4">
                  <c:v>0.42151162790697677</c:v>
                </c:pt>
                <c:pt idx="5">
                  <c:v>0.7152466367713004</c:v>
                </c:pt>
                <c:pt idx="6">
                  <c:v>0</c:v>
                </c:pt>
                <c:pt idx="7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415-4D8F-8B52-BAB179396D0F}"/>
            </c:ext>
          </c:extLst>
        </c:ser>
        <c:ser>
          <c:idx val="3"/>
          <c:order val="3"/>
          <c:tx>
            <c:strRef>
              <c:f>master!$L$5:$L$7</c:f>
              <c:strCache>
                <c:ptCount val="1"/>
                <c:pt idx="0">
                  <c:v>Digestive System - Sum of Male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master!$H$8:$H$16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master!$L$8:$L$16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0.25641025641025639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2415-4D8F-8B52-BAB179396D0F}"/>
            </c:ext>
          </c:extLst>
        </c:ser>
        <c:ser>
          <c:idx val="4"/>
          <c:order val="4"/>
          <c:tx>
            <c:strRef>
              <c:f>master!$M$5:$M$7</c:f>
              <c:strCache>
                <c:ptCount val="1"/>
                <c:pt idx="0">
                  <c:v>Endocrine System - Sum of Female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master!$H$8:$H$16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master!$M$8:$M$16</c:f>
              <c:numCache>
                <c:formatCode>General</c:formatCode>
                <c:ptCount val="8"/>
                <c:pt idx="0">
                  <c:v>1</c:v>
                </c:pt>
                <c:pt idx="1">
                  <c:v>0</c:v>
                </c:pt>
                <c:pt idx="2">
                  <c:v>0.14772727272727273</c:v>
                </c:pt>
                <c:pt idx="3">
                  <c:v>0.20062695924764889</c:v>
                </c:pt>
                <c:pt idx="4">
                  <c:v>0.21802325581395349</c:v>
                </c:pt>
                <c:pt idx="5">
                  <c:v>6.2780269058295965E-2</c:v>
                </c:pt>
                <c:pt idx="6">
                  <c:v>0</c:v>
                </c:pt>
                <c:pt idx="7">
                  <c:v>0.30909090909090908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415-4D8F-8B52-BAB179396D0F}"/>
            </c:ext>
          </c:extLst>
        </c:ser>
        <c:ser>
          <c:idx val="5"/>
          <c:order val="5"/>
          <c:tx>
            <c:strRef>
              <c:f>master!$N$5:$N$7</c:f>
              <c:strCache>
                <c:ptCount val="1"/>
                <c:pt idx="0">
                  <c:v>Endocrine System - Sum of Male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master!$H$8:$H$16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master!$N$8:$N$16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0.10256410256410256</c:v>
                </c:pt>
                <c:pt idx="6">
                  <c:v>0</c:v>
                </c:pt>
                <c:pt idx="7">
                  <c:v>6.6666666666666666E-2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2415-4D8F-8B52-BAB179396D0F}"/>
            </c:ext>
          </c:extLst>
        </c:ser>
        <c:ser>
          <c:idx val="6"/>
          <c:order val="6"/>
          <c:tx>
            <c:strRef>
              <c:f>master!$O$5:$O$7</c:f>
              <c:strCache>
                <c:ptCount val="1"/>
                <c:pt idx="0">
                  <c:v>Liver - Sum of Female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master!$H$8:$H$16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master!$O$8:$O$16</c:f>
              <c:numCache>
                <c:formatCode>General</c:formatCode>
                <c:ptCount val="8"/>
                <c:pt idx="0">
                  <c:v>0</c:v>
                </c:pt>
                <c:pt idx="1">
                  <c:v>0.4</c:v>
                </c:pt>
                <c:pt idx="2">
                  <c:v>4.5454545454545456E-2</c:v>
                </c:pt>
                <c:pt idx="3">
                  <c:v>0.10344827586206896</c:v>
                </c:pt>
                <c:pt idx="5">
                  <c:v>0</c:v>
                </c:pt>
                <c:pt idx="6">
                  <c:v>0</c:v>
                </c:pt>
                <c:pt idx="7">
                  <c:v>0.2818181818181818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2415-4D8F-8B52-BAB179396D0F}"/>
            </c:ext>
          </c:extLst>
        </c:ser>
        <c:ser>
          <c:idx val="7"/>
          <c:order val="7"/>
          <c:tx>
            <c:strRef>
              <c:f>master!$P$5:$P$7</c:f>
              <c:strCache>
                <c:ptCount val="1"/>
                <c:pt idx="0">
                  <c:v>Liver - Sum of Male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master!$H$8:$H$16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master!$P$8:$P$16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0.22222222222222221</c:v>
                </c:pt>
                <c:pt idx="3">
                  <c:v>1</c:v>
                </c:pt>
                <c:pt idx="5">
                  <c:v>0.10256410256410256</c:v>
                </c:pt>
                <c:pt idx="6">
                  <c:v>1</c:v>
                </c:pt>
                <c:pt idx="7">
                  <c:v>6.6666666666666666E-2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2415-4D8F-8B52-BAB179396D0F}"/>
            </c:ext>
          </c:extLst>
        </c:ser>
        <c:ser>
          <c:idx val="8"/>
          <c:order val="8"/>
          <c:tx>
            <c:strRef>
              <c:f>master!$Q$5:$Q$7</c:f>
              <c:strCache>
                <c:ptCount val="1"/>
                <c:pt idx="0">
                  <c:v>Liver(Hepatic) - Sum of Female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master!$H$8:$H$16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master!$Q$8:$Q$16</c:f>
              <c:numCache>
                <c:formatCode>General</c:formatCode>
                <c:ptCount val="8"/>
                <c:pt idx="4">
                  <c:v>0.19186046511627908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2415-4D8F-8B52-BAB179396D0F}"/>
            </c:ext>
          </c:extLst>
        </c:ser>
        <c:ser>
          <c:idx val="9"/>
          <c:order val="9"/>
          <c:tx>
            <c:strRef>
              <c:f>master!$R$5:$R$7</c:f>
              <c:strCache>
                <c:ptCount val="1"/>
                <c:pt idx="0">
                  <c:v>Liver(Hepatic) - Sum of Male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master!$H$8:$H$16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master!$R$8:$R$16</c:f>
              <c:numCache>
                <c:formatCode>General</c:formatCode>
                <c:ptCount val="8"/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2415-4D8F-8B52-BAB179396D0F}"/>
            </c:ext>
          </c:extLst>
        </c:ser>
        <c:ser>
          <c:idx val="10"/>
          <c:order val="10"/>
          <c:tx>
            <c:strRef>
              <c:f>master!$S$5:$S$7</c:f>
              <c:strCache>
                <c:ptCount val="1"/>
                <c:pt idx="0">
                  <c:v>Nervous System - Sum of Female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master!$H$8:$H$16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master!$S$8:$S$16</c:f>
              <c:numCache>
                <c:formatCode>General</c:formatCode>
                <c:ptCount val="8"/>
                <c:pt idx="0">
                  <c:v>0</c:v>
                </c:pt>
                <c:pt idx="1">
                  <c:v>0.2</c:v>
                </c:pt>
                <c:pt idx="2">
                  <c:v>0.32954545454545453</c:v>
                </c:pt>
                <c:pt idx="3">
                  <c:v>0.98119122257053293</c:v>
                </c:pt>
                <c:pt idx="4">
                  <c:v>0.89244000000000001</c:v>
                </c:pt>
                <c:pt idx="5">
                  <c:v>0.82286995515695072</c:v>
                </c:pt>
                <c:pt idx="6">
                  <c:v>0</c:v>
                </c:pt>
                <c:pt idx="7">
                  <c:v>0.84545454545454546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2415-4D8F-8B52-BAB179396D0F}"/>
            </c:ext>
          </c:extLst>
        </c:ser>
        <c:ser>
          <c:idx val="11"/>
          <c:order val="11"/>
          <c:tx>
            <c:strRef>
              <c:f>master!$T$5:$T$7</c:f>
              <c:strCache>
                <c:ptCount val="1"/>
                <c:pt idx="0">
                  <c:v>Nervous System - Sum of Male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master!$H$8:$H$16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master!$T$8:$T$16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0.55555555555555558</c:v>
                </c:pt>
                <c:pt idx="3">
                  <c:v>0</c:v>
                </c:pt>
                <c:pt idx="4">
                  <c:v>0</c:v>
                </c:pt>
                <c:pt idx="5">
                  <c:v>0.4358974358974359</c:v>
                </c:pt>
                <c:pt idx="6">
                  <c:v>1</c:v>
                </c:pt>
                <c:pt idx="7">
                  <c:v>0.33333299999999999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2415-4D8F-8B52-BAB179396D0F}"/>
            </c:ext>
          </c:extLst>
        </c:ser>
        <c:ser>
          <c:idx val="12"/>
          <c:order val="12"/>
          <c:tx>
            <c:strRef>
              <c:f>master!$U$5:$U$7</c:f>
              <c:strCache>
                <c:ptCount val="1"/>
                <c:pt idx="0">
                  <c:v>Respiratory System - Sum of Female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master!$H$8:$H$16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master!$U$8:$U$16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0.25</c:v>
                </c:pt>
                <c:pt idx="3">
                  <c:v>0.30407523510971785</c:v>
                </c:pt>
                <c:pt idx="4">
                  <c:v>0.28488372093023256</c:v>
                </c:pt>
                <c:pt idx="5">
                  <c:v>0.37668161434977576</c:v>
                </c:pt>
                <c:pt idx="6">
                  <c:v>0</c:v>
                </c:pt>
                <c:pt idx="7">
                  <c:v>0.86363636363636365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2415-4D8F-8B52-BAB179396D0F}"/>
            </c:ext>
          </c:extLst>
        </c:ser>
        <c:ser>
          <c:idx val="13"/>
          <c:order val="13"/>
          <c:tx>
            <c:strRef>
              <c:f>master!$V$5:$V$7</c:f>
              <c:strCache>
                <c:ptCount val="1"/>
                <c:pt idx="0">
                  <c:v>Respiratory System - Sum of Male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master!$H$8:$H$16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master!$V$8:$V$16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0.33333333333333331</c:v>
                </c:pt>
                <c:pt idx="3">
                  <c:v>0</c:v>
                </c:pt>
                <c:pt idx="4">
                  <c:v>0</c:v>
                </c:pt>
                <c:pt idx="5">
                  <c:v>0.15384615384615385</c:v>
                </c:pt>
                <c:pt idx="6">
                  <c:v>0</c:v>
                </c:pt>
                <c:pt idx="7">
                  <c:v>0.26666666666666666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2415-4D8F-8B52-BAB179396D0F}"/>
            </c:ext>
          </c:extLst>
        </c:ser>
        <c:ser>
          <c:idx val="14"/>
          <c:order val="14"/>
          <c:tx>
            <c:strRef>
              <c:f>master!$W$5:$W$7</c:f>
              <c:strCache>
                <c:ptCount val="1"/>
                <c:pt idx="0">
                  <c:v>Urinary System - Sum of Female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master!$H$8:$H$16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master!$W$8:$W$16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3.4090909090909088E-2</c:v>
                </c:pt>
                <c:pt idx="3">
                  <c:v>9.7178E-2</c:v>
                </c:pt>
                <c:pt idx="4">
                  <c:v>4.9417999999999997E-2</c:v>
                </c:pt>
                <c:pt idx="5">
                  <c:v>0.14573991031390135</c:v>
                </c:pt>
                <c:pt idx="6">
                  <c:v>0</c:v>
                </c:pt>
                <c:pt idx="7">
                  <c:v>0.29090909090909089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2415-4D8F-8B52-BAB179396D0F}"/>
            </c:ext>
          </c:extLst>
        </c:ser>
        <c:ser>
          <c:idx val="15"/>
          <c:order val="15"/>
          <c:tx>
            <c:strRef>
              <c:f>master!$X$5:$X$7</c:f>
              <c:strCache>
                <c:ptCount val="1"/>
                <c:pt idx="0">
                  <c:v>Urinary System - Sum of Male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master!$H$8:$H$16</c:f>
              <c:strCache>
                <c:ptCount val="8"/>
                <c:pt idx="0">
                  <c:v>0-6</c:v>
                </c:pt>
                <c:pt idx="1">
                  <c:v>13-21</c:v>
                </c:pt>
                <c:pt idx="2">
                  <c:v>22-40</c:v>
                </c:pt>
                <c:pt idx="3">
                  <c:v>41-50</c:v>
                </c:pt>
                <c:pt idx="4">
                  <c:v>51-60</c:v>
                </c:pt>
                <c:pt idx="5">
                  <c:v>61-80</c:v>
                </c:pt>
                <c:pt idx="6">
                  <c:v>7-12</c:v>
                </c:pt>
                <c:pt idx="7">
                  <c:v>81+</c:v>
                </c:pt>
              </c:strCache>
            </c:strRef>
          </c:cat>
          <c:val>
            <c:numRef>
              <c:f>master!$X$8:$X$16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2.564102564102564E-2</c:v>
                </c:pt>
                <c:pt idx="6">
                  <c:v>0</c:v>
                </c:pt>
                <c:pt idx="7">
                  <c:v>6.6666666666666666E-2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2415-4D8F-8B52-BAB179396D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73686367"/>
        <c:axId val="1873701247"/>
      </c:barChart>
      <c:catAx>
        <c:axId val="1873686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3701247"/>
        <c:crosses val="autoZero"/>
        <c:auto val="1"/>
        <c:lblAlgn val="ctr"/>
        <c:lblOffset val="100"/>
        <c:noMultiLvlLbl val="0"/>
      </c:catAx>
      <c:valAx>
        <c:axId val="18737012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36863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01:09:01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1032 152 24575,'-135'142'0,"119"-127"0,-1-1 0,-1-1 0,-26 16 0,25-17 0,1 0 0,0 2 0,-25 22 0,17-9 0,-25 26 0,-51 66 0,91-103 0,-72 96 0,-78 140 0,132-190 0,2 1 0,3 1 0,-22 91 0,11 46 0,4-17 0,-24 86 0,44-196 0,0 125 0,11-102 0,3 127 0,0-193 0,2 0 0,0 0 0,13 37 0,37 90 0,-20-65 0,62 188 0,-67-178 0,-24-76 0,1-1 0,2 0 0,0-1 0,22 41 0,25 29 0,-11-16 0,68 90 0,-40-63 0,-47-66 0,48 57 0,-57-78 0,-1 1 0,-1 0 0,-1 1 0,0 1 0,16 35 0,-25-46 0,1-1 0,0 1 0,0-1 0,1-1 0,1 1 0,0-1 0,0-1 0,0 1 0,11 7 0,15 9 0,45 26 0,-11-7 0,0 5 0,-18-13 0,57 32 0,-23-29 0,-23-11 0,70 49 0,-101-57 0,0-1 0,2-1 0,0-2 0,0-1 0,39 11 0,-22-14 0,0-3 0,98 6 0,105-14 0,-159-2 0,-70 0 0,0-1 0,0-1 0,0-1 0,0-1 0,0-1 0,-1-1 0,40-18 0,2 2 0,-49 19 0,1-1 0,-1-1 0,0-1 0,-1 0 0,18-11 0,0-3 0,39-20 0,-50 31 0,-1-1 0,0-1 0,-1-1 0,0-1 0,-1 0 0,23-24 0,-5-6 0,-1-1 0,34-63 0,43-105 0,-102 189 0,11-41 0,5-11 0,2 0 0,-3-1 0,16-83 0,-21 51 0,6-134 0,-19 166 0,27-252 0,-23 191 0,-9-169 0,-4 168 0,3 4 0,-3-133 0,-23-3 0,-1 132 0,-5 2 0,-7 0 0,-60-142 0,87 250 0,-86-197 0,74 178 0,-3 1 0,-50-69 0,38 64 0,-2 3 0,-2 1 0,-2 3 0,-3 1 0,-73-54 0,103 85 0,1-1 0,-26-29 0,25 26 0,-32-29 0,49 46 0,-92-64 0,81 57 0,0 2 0,0-1 0,0 2 0,-1-1 0,0 2 0,0-1 0,-13-1 0,-107-23 0,93 18 0,0 1 0,-54-5 0,71 15 0,0 1 0,1 0 0,0 2 0,0 0 0,0 2 0,-35 13 0,4-2 0,-64 21 0,-75 21 0,183-57 0,1 0 0,0 0 0,0 1 0,0 0 0,1 0 0,-1 0 0,1 1 0,0 0 0,0 1 0,0-1 0,-11 11 0,13-10 0,-2-1 0,1 0 0,0-1 0,-1 0 0,0 1 0,0-2 0,0 1 0,0-1 0,0 0 0,-8 2 0,-7 0 0,-39 2 0,39-5 0,-38 7 0,38-3 0,0 0 0,1 2 0,-1 0 0,1 1 0,-23 14 0,-42 22 0,-169 64 0,172-76 0,42-20-21,31-9-147,0-1 0,0 1 0,1 0 0,-1 1 0,1 0 0,0 0 0,-12 9 0,8-2-6658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01:09:37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1698 25 24575,'-17'-1'0,"0"-1"0,-24-5 0,-13-2 0,12 5 0,-1 2 0,1 2 0,-1 2 0,1 2 0,0 1 0,-45 13 0,-16 9 0,1 5 0,2 5 0,1 3 0,-116 68 0,174-84 0,-56 42 0,82-53 0,0 0 0,1 0 0,0 1 0,2 1 0,-1 0 0,-14 25 0,20-26 0,-2 0 0,0-1 0,0 0 0,-1 0 0,0-1 0,-1 0 0,-16 12 0,-185 171 0,196-180 0,12-11 0,0 0 0,0 0 0,0 1 0,0 0 0,1 0 0,-1 0 0,1 0 0,0 0 0,-2 8 0,4-10 0,1 0 0,-1-1 0,1 1 0,0 0 0,0 0 0,0-1 0,0 1 0,0 0 0,1 0 0,-1-1 0,1 1 0,-1 0 0,1-1 0,0 1 0,0 0 0,1-1 0,-1 1 0,0-1 0,1 0 0,0 0 0,3 5 0,35 41 0,45 53 0,-68-84 0,1 0 0,0-1 0,31 20 0,-31-25 0,1 0 0,0-1 0,0-1 0,1 0 0,39 9 0,-25-7 0,0 1 0,59 29 0,-53-21 0,52 16 0,103 14 0,-131-37 0,0 3 0,90 36 0,-68-10 0,-47-22 0,64 24 0,-49-27 0,1-2 0,0-2 0,1-3 0,0-2 0,101 1 0,469-12 0,-574 0 0,64-10 0,-62 5 0,58 0 0,-49 8 0,68-3 0,-110 2 0,0-2 0,1-1 0,-1-1 0,22-8 0,3-3 0,281-87 0,-309 99 0,-1-1 0,1-1 0,-1 0 0,-1-1 0,1-1 0,-1 0 0,0-1 0,-1-1 0,0-1 0,0 0 0,-2-1 0,1 0 0,-1-1 0,-1-1 0,0 0 0,-1 0 0,15-27 0,8-17 0,-16 29 0,23-51 0,-13 21 0,-20 44 0,-1 1 0,0-2 0,-1 1 0,-1-1 0,0 0 0,4-25 0,-6 14 0,-2 0 0,-1-34 0,-1 49 0,-1 0 0,0 1 0,0-1 0,-2 1 0,1-1 0,-1 1 0,-11-20 0,-13-22 0,5 11 0,-34-50 0,48 79 0,-1 1 0,-1 0 0,0 0 0,0 2 0,-1-1 0,0 1 0,-27-16 0,-160-69 0,77 41 0,103 45 0,-1 2 0,1 0 0,-2 1 0,1 1 0,-37-4 0,23 3 0,-48-15 0,51 12 0,-62-9 0,10 2 0,59 10 0,0 1 0,-27-1 0,-291 4 0,170 4 0,-377-2 0,536 0 0,1-1 0,0 0 0,0-1 0,0 0 0,0 0 0,0-2 0,0 0 0,1 0 0,-21-11 0,11 5-1365,3 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01:09:39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01:09:51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01:09:56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CD1B5-0AE4-6FE1-3CF7-7D4EA6FA5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A87E5-00C2-3E66-D834-F5BB8DCF9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A49D1-ED0D-2236-6F5B-8E52FFE82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D0718-3D4B-22C5-8FB4-59AAA7990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98FB4-EC4A-3D05-2867-71AD88C4D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42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509D-C665-2B96-D218-EFC77BCAD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F75F2-727B-94C2-3578-6E182A1AF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E53F0-7A52-2707-06D0-EFA949000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FCAC6-AD7F-DD53-167C-9C71E7C1F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E1E6B-D718-4EEF-7AB1-EE9E865C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5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F20C3-32B6-AD80-8441-D04C83F97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1B089-F4F8-3BC6-0091-D4474BFA1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A5773-8D3B-CA37-38DA-0463466B3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C56EA-C055-4C76-9B08-B713C6BAA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797EA-7250-EE9D-0460-55AC6A5A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18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C82FD-D743-A5D1-8D97-CBD093FB5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8ACEA-AEDD-8C42-F548-51DABABDD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DA930-4943-68F7-869E-035D45D01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C431E-6528-9E02-443A-E6A57313E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FAD34-66D8-CD82-ACD5-B4D308DDB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9AFBA-AA11-5BCB-172E-342B9742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31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64F2-8CA1-47E9-1BF8-A3BAF8344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0A945-BC39-2103-3AD9-86FC71F2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C793B-5B39-7B2C-B371-95683E3DF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36BE5D-CD2C-7C33-912D-FC8556C15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1B99CE-0B8D-BEC4-75A5-9DB047A093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F9946E-85CC-E134-311B-CE2C32BDC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C91AFE-797F-14C3-D7CF-F6B4FB096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C9BBAC-58E8-D9E8-954E-AECAF27E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941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56997-E213-F690-213D-204D9A053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9995F-AB74-7625-D405-2C6803910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099C3-9E85-FD0D-FB15-C2A4AD57F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AB1B6-5DAA-C3E6-23FF-AA0E43FC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15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75DAB-C98C-DEFF-98CC-42A957ACA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A0A32-9C26-A0DD-3D1E-7F04DD62B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7662C-5449-218C-713D-10C220E3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94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6A4A2-A180-D67C-D980-AF95EB59E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10C73-7A12-A1F7-0EF9-62C6E228F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DA5CC-B933-9105-A904-A9FC4C951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845AC-DEB4-EF79-6158-B38363667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D1CCB-CAA0-71CF-ADF2-C24D8BE60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3AD94-C50A-913F-B398-4458431B3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22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746D6-2D20-A34A-0A7C-07CEC40EE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DFD473-4DEB-7EA7-3CC2-838D98110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CD804-6C52-D0DF-C01E-BF7C05301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D2349-0717-68AD-9B75-9F875EF87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F5345-9B83-DD0E-C2FA-1E0461829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0A388-D2C0-0FDF-F7F8-6501D5BC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93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1DE61-F130-CE79-2376-A8D4F54A4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60E395-FF11-1216-C7F1-D403C2A3D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94695-05E5-19B6-E197-F1109653E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5A77E-AE19-C761-11E0-898F280BE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E9FFE-2731-079B-F572-098AAEB4D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6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04342A-9586-BDA1-05A3-11D782F0E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EE938-1EF7-526B-1E2E-60B0FB63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94B88-9FD2-6D4B-53B0-B5696EB68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00EBE-0DF8-4190-820B-B597826E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95CFA-2DB7-C57B-02F6-4EC3EE8C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99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052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014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630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6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01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464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6514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615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7170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13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57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9D3C0-989D-AE90-EBF6-3792E8314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8D8CC-D304-DF80-1667-BCB019BF7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D346A-9364-457B-C818-85C3EC354D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BCEC2-8862-5E6C-3392-284C2B3A2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DB780-C4EC-D2B9-0AFE-BC3F0C6FE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799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F587E59-0262-4BE5-9681-35A52AD8198B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9F20E6D-DDBA-4F28-B7FC-316526EC861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267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is.fda.gov/sense/app/95239e26-e0be-42d9-a960-9a5f7f1c25ee/sheet/7a47a261-d58b-4203-a8aa-6d3021737452/state/analysis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10" Type="http://schemas.openxmlformats.org/officeDocument/2006/relationships/customXml" Target="../ink/ink5.xml"/><Relationship Id="rId4" Type="http://schemas.openxmlformats.org/officeDocument/2006/relationships/image" Target="../media/image4.png"/><Relationship Id="rId9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57B90-82FE-468E-A245-BF5B0EBD51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Analysis of Adverse Effects on Breast cancer Drugs (Tamoxifen and Letrozole).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D3CBC-C36F-B286-FBD2-BCB3AFA9A8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By </a:t>
            </a:r>
          </a:p>
          <a:p>
            <a:r>
              <a:rPr lang="en-US" dirty="0"/>
              <a:t>Jyothirmai Vallakati</a:t>
            </a:r>
          </a:p>
          <a:p>
            <a:r>
              <a:rPr lang="en-US" dirty="0"/>
              <a:t>ID: 11697705</a:t>
            </a:r>
          </a:p>
        </p:txBody>
      </p:sp>
    </p:spTree>
    <p:extLst>
      <p:ext uri="{BB962C8B-B14F-4D97-AF65-F5344CB8AC3E}">
        <p14:creationId xmlns:p14="http://schemas.microsoft.com/office/powerpoint/2010/main" val="2427585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EF91-8B42-B907-6677-C8F4793C6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D374-4094-AC98-0B00-41A55BBD5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Data Cleaning</a:t>
            </a:r>
          </a:p>
          <a:p>
            <a:r>
              <a:rPr lang="en-US" dirty="0"/>
              <a:t>Data Segregation</a:t>
            </a:r>
          </a:p>
          <a:p>
            <a:r>
              <a:rPr lang="en-US" dirty="0"/>
              <a:t>Data Analysis</a:t>
            </a:r>
          </a:p>
          <a:p>
            <a:r>
              <a:rPr lang="en-US" dirty="0"/>
              <a:t>Results (Visualizations)</a:t>
            </a:r>
          </a:p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63453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3377-8D09-BDEE-11F4-9D52BADED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AFB24-DA6D-94D5-537C-0E6599BEA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Tamoxifen(G): It is a type of selective estrogen receptor modulator (SERM), used primary for the treatment and prevention of hormone receptor-positive breast cancer cases. Use: blocks action of estrogen in breast tissue.</a:t>
            </a:r>
          </a:p>
          <a:p>
            <a:r>
              <a:rPr lang="en-US" dirty="0"/>
              <a:t>Letrozole(G): It is an aromatase inhibitor. Similar usage. Reduces production of estrogen.</a:t>
            </a:r>
          </a:p>
        </p:txBody>
      </p:sp>
    </p:spTree>
    <p:extLst>
      <p:ext uri="{BB962C8B-B14F-4D97-AF65-F5344CB8AC3E}">
        <p14:creationId xmlns:p14="http://schemas.microsoft.com/office/powerpoint/2010/main" val="2978434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B8D5B-BF9D-4FAB-B952-B90DEE8A9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pic>
        <p:nvPicPr>
          <p:cNvPr id="5" name="Content Placeholder 4" descr="A close-up of a logo&#10;&#10;Description automatically generated">
            <a:extLst>
              <a:ext uri="{FF2B5EF4-FFF2-40B4-BE49-F238E27FC236}">
                <a16:creationId xmlns:a16="http://schemas.microsoft.com/office/drawing/2014/main" id="{23F9540E-2FE6-09CB-7465-3CBE4A579D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125" y="1850572"/>
            <a:ext cx="5141004" cy="288471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3D2DF2-3053-64F9-A08F-9435CBCC3B3F}"/>
              </a:ext>
            </a:extLst>
          </p:cNvPr>
          <p:cNvSpPr txBox="1"/>
          <p:nvPr/>
        </p:nvSpPr>
        <p:spPr>
          <a:xfrm>
            <a:off x="838200" y="1850572"/>
            <a:ext cx="48114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data has been taken from the FAERS dashboard for the specific drugs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At first; for each drug – the data downloaded had columns such as patient sex, age, weight, reactions, reasons, case id, product name etc.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data has been cleaned to remove missing values, duplicate values and outliers.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Final data had only 4 columns mainly patient’s sex, age, weight and reactions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200D8-3935-3AAF-DFA7-B426BD138748}"/>
              </a:ext>
            </a:extLst>
          </p:cNvPr>
          <p:cNvSpPr txBox="1"/>
          <p:nvPr/>
        </p:nvSpPr>
        <p:spPr>
          <a:xfrm>
            <a:off x="990600" y="5562600"/>
            <a:ext cx="10776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hlinkClick r:id="rId3"/>
              </a:rPr>
              <a:t>FAERS dashboard link:</a:t>
            </a:r>
            <a:br>
              <a:rPr lang="en-US" sz="1800" dirty="0">
                <a:hlinkClick r:id="rId3"/>
              </a:rPr>
            </a:br>
            <a:r>
              <a:rPr lang="en-US" sz="1800" dirty="0">
                <a:hlinkClick r:id="rId3"/>
              </a:rPr>
              <a:t>https://fis.fda.gov/sense/app/95239e26-e0be-42d9-a960-9a5f7f1c25ee/sheet/7a47a261-d58b-4203-a8aa-6d3021737452/state/analysis</a:t>
            </a:r>
            <a:endParaRPr lang="en-US" sz="1800" dirty="0"/>
          </a:p>
          <a:p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450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28F94-BA4F-397D-8B99-AA0F473EB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irrelevant and missing values</a:t>
            </a:r>
          </a:p>
        </p:txBody>
      </p:sp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463DC61F-3B43-66E9-4832-64255DB992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542" y="1825625"/>
            <a:ext cx="8214915" cy="435133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AACBDEB-91BA-9B6B-424E-D58A7F3B727D}"/>
                  </a:ext>
                </a:extLst>
              </p14:cNvPr>
              <p14:cNvContentPartPr/>
              <p14:nvPr/>
            </p14:nvContentPartPr>
            <p14:xfrm>
              <a:off x="7041823" y="4299360"/>
              <a:ext cx="1275840" cy="17978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AACBDEB-91BA-9B6B-424E-D58A7F3B72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35703" y="4293240"/>
                <a:ext cx="1288080" cy="181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3D47FC2-F05B-57AF-CC90-5501F891DF1E}"/>
                  </a:ext>
                </a:extLst>
              </p14:cNvPr>
              <p14:cNvContentPartPr/>
              <p14:nvPr/>
            </p14:nvContentPartPr>
            <p14:xfrm>
              <a:off x="2415103" y="4824600"/>
              <a:ext cx="1418400" cy="5976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3D47FC2-F05B-57AF-CC90-5501F891DF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08983" y="4818480"/>
                <a:ext cx="1430640" cy="60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BADD7EA-6639-FAB7-D835-9E577C550F11}"/>
                  </a:ext>
                </a:extLst>
              </p14:cNvPr>
              <p14:cNvContentPartPr/>
              <p14:nvPr/>
            </p14:nvContentPartPr>
            <p14:xfrm>
              <a:off x="3494023" y="783806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BADD7EA-6639-FAB7-D835-9E577C550F1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87903" y="77768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8C42DE0-46A3-049C-7BFE-77236105F6FE}"/>
                  </a:ext>
                </a:extLst>
              </p14:cNvPr>
              <p14:cNvContentPartPr/>
              <p14:nvPr/>
            </p14:nvContentPartPr>
            <p14:xfrm>
              <a:off x="-489840" y="620160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8C42DE0-46A3-049C-7BFE-77236105F6F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495960" y="6140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87BB22B-B311-FB60-BD2F-4AE3BFE4622B}"/>
                  </a:ext>
                </a:extLst>
              </p14:cNvPr>
              <p14:cNvContentPartPr/>
              <p14:nvPr/>
            </p14:nvContentPartPr>
            <p14:xfrm>
              <a:off x="-512160" y="2318640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87BB22B-B311-FB60-BD2F-4AE3BFE4622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518280" y="231252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0425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A7296-9E60-43B2-77EE-808CDE757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E1B51-1C17-C260-3018-EF669EB56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37" y="1377187"/>
            <a:ext cx="10515600" cy="4351338"/>
          </a:xfrm>
        </p:spPr>
        <p:txBody>
          <a:bodyPr/>
          <a:lstStyle/>
          <a:p>
            <a:r>
              <a:rPr lang="en-US" dirty="0"/>
              <a:t>At this stage, the data has been grouped together using the python code, where the code functions on dividing the data into groups and counting the frequency..</a:t>
            </a:r>
          </a:p>
          <a:p>
            <a:r>
              <a:rPr lang="en-US" dirty="0"/>
              <a:t>The final output file had values reactions and frequency values for each and every particular age group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471250D-ADAB-3C9F-D262-A110C086C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37" y="3552856"/>
            <a:ext cx="4058000" cy="3076544"/>
          </a:xfrm>
          <a:prstGeom prst="rect">
            <a:avLst/>
          </a:prstGeom>
        </p:spPr>
      </p:pic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BB03B73-85DA-38F9-D832-A04EEACBE9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720" y="3552856"/>
            <a:ext cx="6792273" cy="330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6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2DFC3-D929-113C-94A4-DA7588A76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4E82B-D137-AB26-856D-9FB70E900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03571" cy="4351338"/>
          </a:xfrm>
        </p:spPr>
        <p:txBody>
          <a:bodyPr/>
          <a:lstStyle/>
          <a:p>
            <a:r>
              <a:rPr lang="en-US" dirty="0"/>
              <a:t>The segregated data is taken, and the organ system is generated using the Gemini (BERT ).</a:t>
            </a:r>
          </a:p>
          <a:p>
            <a:r>
              <a:rPr lang="en-US" dirty="0"/>
              <a:t>Later, the sheet has been modified to group together the similar organ systems</a:t>
            </a:r>
          </a:p>
          <a:p>
            <a:r>
              <a:rPr lang="en-US" dirty="0"/>
              <a:t>Normalization has been calculated on the data using the formula – Normalization= total frequency/ total number of patients </a:t>
            </a:r>
          </a:p>
          <a:p>
            <a:r>
              <a:rPr lang="en-US" dirty="0"/>
              <a:t>The plots have been plotted based on this data.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17BC747D-2E69-D9DA-078C-EB4E51BEE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661" y="1545771"/>
            <a:ext cx="3519310" cy="39385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3162BF-4CD2-0F60-F59D-BA896DFD7AD2}"/>
              </a:ext>
            </a:extLst>
          </p:cNvPr>
          <p:cNvSpPr txBox="1"/>
          <p:nvPr/>
        </p:nvSpPr>
        <p:spPr>
          <a:xfrm>
            <a:off x="8273143" y="5693229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Normalized values</a:t>
            </a:r>
          </a:p>
        </p:txBody>
      </p:sp>
    </p:spTree>
    <p:extLst>
      <p:ext uri="{BB962C8B-B14F-4D97-AF65-F5344CB8AC3E}">
        <p14:creationId xmlns:p14="http://schemas.microsoft.com/office/powerpoint/2010/main" val="723829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01A8E-1411-A71E-29C9-F3A2B1A51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Letrozole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0F5DB5-59B0-705E-E6B3-AEF1E90D18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62166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DD6F-FEE0-FC89-0474-F07F1938B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Letrozole (Male vs Female)</a:t>
            </a:r>
          </a:p>
        </p:txBody>
      </p:sp>
      <p:pic>
        <p:nvPicPr>
          <p:cNvPr id="8" name="Content Placeholder 7" descr="A screenshot of a graph&#10;&#10;Description automatically generated">
            <a:extLst>
              <a:ext uri="{FF2B5EF4-FFF2-40B4-BE49-F238E27FC236}">
                <a16:creationId xmlns:a16="http://schemas.microsoft.com/office/drawing/2014/main" id="{EA74AAB2-9F69-EB6B-86A6-E521FF144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10735"/>
            <a:ext cx="10515600" cy="4181117"/>
          </a:xfrm>
        </p:spPr>
      </p:pic>
    </p:spTree>
    <p:extLst>
      <p:ext uri="{BB962C8B-B14F-4D97-AF65-F5344CB8AC3E}">
        <p14:creationId xmlns:p14="http://schemas.microsoft.com/office/powerpoint/2010/main" val="2474454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DC83-7E9A-4A1F-C453-F7D38180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Letrozole (Affected Organ systems)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07F01A-5F66-B3E7-7548-159854ADAA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6874974"/>
              </p:ext>
            </p:extLst>
          </p:nvPr>
        </p:nvGraphicFramePr>
        <p:xfrm>
          <a:off x="457199" y="1346652"/>
          <a:ext cx="11081657" cy="503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0970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77D3D-41AA-3E29-6A46-4069E0415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Tamozifen</a:t>
            </a:r>
            <a:r>
              <a:rPr lang="en-US" dirty="0"/>
              <a:t>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717F0F-356F-AB62-5BA8-309AACEA0EF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42194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E9FA-59C6-ADEE-F8A2-762299AA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Tamoxifen (Male vs Female)</a:t>
            </a:r>
          </a:p>
        </p:txBody>
      </p:sp>
      <p:pic>
        <p:nvPicPr>
          <p:cNvPr id="5" name="Content Placeholder 4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85546B33-FD00-C261-AE37-5E9A195697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682" y="1825625"/>
            <a:ext cx="10054635" cy="4351338"/>
          </a:xfrm>
        </p:spPr>
      </p:pic>
    </p:spTree>
    <p:extLst>
      <p:ext uri="{BB962C8B-B14F-4D97-AF65-F5344CB8AC3E}">
        <p14:creationId xmlns:p14="http://schemas.microsoft.com/office/powerpoint/2010/main" val="2662024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7888F5-46DA-83E9-2C8E-A8A029DA99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7773394"/>
              </p:ext>
            </p:extLst>
          </p:nvPr>
        </p:nvGraphicFramePr>
        <p:xfrm>
          <a:off x="838200" y="326571"/>
          <a:ext cx="10515600" cy="5850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9C2203B-F125-4DAA-6D3D-FBFB3BF79454}"/>
              </a:ext>
            </a:extLst>
          </p:cNvPr>
          <p:cNvSpPr txBox="1"/>
          <p:nvPr/>
        </p:nvSpPr>
        <p:spPr>
          <a:xfrm>
            <a:off x="1534886" y="6176963"/>
            <a:ext cx="5856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Tamoxifen Affected Organ systems Overview</a:t>
            </a:r>
          </a:p>
        </p:txBody>
      </p:sp>
    </p:spTree>
    <p:extLst>
      <p:ext uri="{BB962C8B-B14F-4D97-AF65-F5344CB8AC3E}">
        <p14:creationId xmlns:p14="http://schemas.microsoft.com/office/powerpoint/2010/main" val="4287171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8066E-9678-353D-9102-6EC74903B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0FA02-07A6-EB42-7F6F-2FF742494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observed for these two drugs, we can say that the effects on females is more than males. We have also seen that near the age group of 45-60 years in female, the reported cases are higher.</a:t>
            </a:r>
          </a:p>
          <a:p>
            <a:r>
              <a:rPr lang="en-US" dirty="0"/>
              <a:t>The considered data comes from the year 1995 to 2024.</a:t>
            </a:r>
          </a:p>
          <a:p>
            <a:r>
              <a:rPr lang="en-US" dirty="0"/>
              <a:t>From this information, we can try to come to a final point that the females in that particular age group are affecting more and further the drug formula’s can be modified to decrease the number of reactions in the future.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547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0B77-39CF-5763-6192-0A5C0037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7458" y="2766218"/>
            <a:ext cx="5649685" cy="1325563"/>
          </a:xfrm>
        </p:spPr>
        <p:txBody>
          <a:bodyPr>
            <a:normAutofit/>
          </a:bodyPr>
          <a:lstStyle/>
          <a:p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6093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182</TotalTime>
  <Words>441</Words>
  <Application>Microsoft Office PowerPoint</Application>
  <PresentationFormat>Widescreen</PresentationFormat>
  <Paragraphs>41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Calibri Light</vt:lpstr>
      <vt:lpstr>Wingdings</vt:lpstr>
      <vt:lpstr>Office Theme</vt:lpstr>
      <vt:lpstr>Retrospect</vt:lpstr>
      <vt:lpstr>Analysis of Adverse Effects on Breast cancer Drugs (Tamoxifen and Letrozole).</vt:lpstr>
      <vt:lpstr>Contents</vt:lpstr>
      <vt:lpstr>Introduction</vt:lpstr>
      <vt:lpstr>Data Cleaning</vt:lpstr>
      <vt:lpstr>Removing irrelevant and missing values</vt:lpstr>
      <vt:lpstr>Data Segregation</vt:lpstr>
      <vt:lpstr>Data Analysis</vt:lpstr>
      <vt:lpstr>Letrozole Data</vt:lpstr>
      <vt:lpstr>Letrozole (Male vs Female)</vt:lpstr>
      <vt:lpstr>Letrozole (Affected Organ systems) Overview</vt:lpstr>
      <vt:lpstr>Tamozifen Data</vt:lpstr>
      <vt:lpstr>Tamoxifen (Male vs Female)</vt:lpstr>
      <vt:lpstr>PowerPoint Presentation</vt:lpstr>
      <vt:lpstr>Conclusion</vt:lpstr>
      <vt:lpstr>THANK YOU</vt:lpstr>
    </vt:vector>
  </TitlesOfParts>
  <Company>University of North Texas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Vallakati, Jyothirmai</dc:creator>
  <cp:lastModifiedBy>Vallakati, Jyothirmai</cp:lastModifiedBy>
  <cp:revision>7</cp:revision>
  <dcterms:created xsi:type="dcterms:W3CDTF">2024-12-03T20:43:16Z</dcterms:created>
  <dcterms:modified xsi:type="dcterms:W3CDTF">2024-12-11T01:38:04Z</dcterms:modified>
</cp:coreProperties>
</file>